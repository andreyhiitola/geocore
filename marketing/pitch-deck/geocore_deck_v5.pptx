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01.jp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50800"/>
            <a:ext cx="12090095" cy="675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594360" y="640080"/>
            <a:ext cx="292608" cy="292608"/>
          </a:xfrm>
          <a:prstGeom prst="hexagon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658368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spc="100">
                <a:solidFill>
                  <a:srgbClr val="E8E6DE"/>
                </a:solidFill>
                <a:latin typeface="Playfair Display"/>
              </a:rPr>
              <a:t>GEOCORE </a:t>
            </a:r>
            <a:r>
              <a:rPr sz="1300" b="1" spc="100">
                <a:solidFill>
                  <a:srgbClr val="C9A84C"/>
                </a:solidFill>
                <a:latin typeface="Playfair Display"/>
              </a:rPr>
              <a:t>ACADEMY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536192"/>
            <a:ext cx="1417320" cy="32918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20">
                <a:solidFill>
                  <a:srgbClr val="0A0A0B"/>
                </a:solidFill>
                <a:latin typeface="IBM Plex Mono"/>
              </a:rPr>
              <a:t>STARTUP · .KZ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5740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200" b="1">
                <a:solidFill>
                  <a:srgbClr val="E8E6DE"/>
                </a:solidFill>
                <a:latin typeface="Playfair Display"/>
              </a:rPr>
              <a:t>Geocore-Academy</a:t>
            </a:r>
            <a:r>
              <a:rPr sz="4200" b="1">
                <a:solidFill>
                  <a:srgbClr val="C9A84C"/>
                </a:solidFill>
                <a:latin typeface="Playfair Display"/>
              </a:rPr>
              <a:t>.kz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500" b="0">
                <a:solidFill>
                  <a:srgbClr val="9A9890"/>
                </a:solidFill>
                <a:latin typeface="IBM Plex Sans"/>
              </a:rPr>
              <a:t>Первый казахстанский сервис по горно-геологическим информационным системам (ГГИС), прогнозированию, моделированию и оценке месторождений.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01 / 15 — ТИТУЛ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КТО 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>
                <a:solidFill>
                  <a:srgbClr val="E8E6DE"/>
                </a:solidFill>
                <a:latin typeface="Playfair Display"/>
              </a:rPr>
              <a:t>Миссия и </a:t>
            </a:r>
            <a:r>
              <a:rPr sz="3000" b="1">
                <a:solidFill>
                  <a:srgbClr val="C9A84C"/>
                </a:solidFill>
                <a:latin typeface="Playfair Display"/>
              </a:rPr>
              <a:t>аудитория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9A9890"/>
                </a:solidFill>
                <a:latin typeface="IBM Plex Sans"/>
              </a:rPr>
              <a:t>Наша миссия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E8E6DE"/>
                </a:solidFill>
                <a:latin typeface="IBM Plex Sans"/>
              </a:rPr>
              <a:t>Развитие применения передовых информационных технологий для роста эффективности горнодобывающего сектора.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5486400" cy="65836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697480"/>
            <a:ext cx="515721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0">
                <a:solidFill>
                  <a:srgbClr val="E8E6DE"/>
                </a:solidFill>
                <a:latin typeface="IBM Plex Sans"/>
              </a:rPr>
              <a:t>Развитие компетенций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Геологи и горные инженеры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83864"/>
            <a:ext cx="5486400" cy="65836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83864"/>
            <a:ext cx="515721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0">
                <a:solidFill>
                  <a:srgbClr val="E8E6DE"/>
                </a:solidFill>
                <a:latin typeface="IBM Plex Sans"/>
              </a:rPr>
              <a:t>Консалтинг и проекты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Анализ, прогнозирование, моделирование, оценка месторождений, горное проектирование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270248"/>
            <a:ext cx="5486400" cy="65836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4270248"/>
            <a:ext cx="5157216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0">
                <a:solidFill>
                  <a:srgbClr val="E8E6DE"/>
                </a:solidFill>
                <a:latin typeface="IBM Plex Sans"/>
              </a:rPr>
              <a:t>Инновации</a:t>
            </a:r>
          </a:p>
          <a:p>
            <a:pPr>
              <a:lnSpc>
                <a:spcPct val="11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Передовые цифровые методы моделирования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150" b="0">
                <a:solidFill>
                  <a:srgbClr val="9A9890"/>
                </a:solidFill>
                <a:latin typeface="IBM Plex Sans"/>
              </a:rPr>
              <a:t>Наша аудитория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>
                <a:solidFill>
                  <a:srgbClr val="C9A84C"/>
                </a:solidFill>
                <a:latin typeface="IBM Plex Sans"/>
              </a:rPr>
              <a:t>◆  </a:t>
            </a:r>
            <a:r>
              <a:rPr sz="1350" b="0">
                <a:solidFill>
                  <a:srgbClr val="E8E6DE"/>
                </a:solidFill>
                <a:latin typeface="IBM Plex Sans"/>
              </a:rPr>
              <a:t>Горнодобывающие предприятия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60320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70048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>
                <a:solidFill>
                  <a:srgbClr val="C9A84C"/>
                </a:solidFill>
                <a:latin typeface="IBM Plex Sans"/>
              </a:rPr>
              <a:t>◆  </a:t>
            </a:r>
            <a:r>
              <a:rPr sz="1350" b="0">
                <a:solidFill>
                  <a:srgbClr val="E8E6DE"/>
                </a:solidFill>
                <a:latin typeface="IBM Plex Sans"/>
              </a:rPr>
              <a:t>ВУЗы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127248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36976"/>
            <a:ext cx="5303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350" b="0">
                <a:solidFill>
                  <a:srgbClr val="C9A84C"/>
                </a:solidFill>
                <a:latin typeface="IBM Plex Sans"/>
              </a:rPr>
              <a:t>◆  </a:t>
            </a:r>
            <a:r>
              <a:rPr sz="1350" b="0">
                <a:solidFill>
                  <a:srgbClr val="E8E6DE"/>
                </a:solidFill>
                <a:latin typeface="IBM Plex Sans"/>
              </a:rPr>
              <a:t>Инвесторы в горнодобывающий сектор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94176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895344"/>
            <a:ext cx="2569464" cy="173736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s2_Рисунок24.pn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3946144"/>
            <a:ext cx="2467864" cy="163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800" y="5678424"/>
            <a:ext cx="25694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ПРОМЫШЛЕННЫЙ ПАРТНЁР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34856" y="3895344"/>
            <a:ext cx="2569464" cy="173736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2_Рисунок25.png.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5656" y="3946144"/>
            <a:ext cx="2467864" cy="163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34856" y="5678424"/>
            <a:ext cx="256946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ВЫПУСКНИКИ СПГУ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02 / 15 — МИССИЯ И АУДИТОРИЯ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ЭКСПЕРТИЗА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>
                <a:solidFill>
                  <a:srgbClr val="E8E6DE"/>
                </a:solidFill>
                <a:latin typeface="Playfair Display"/>
              </a:rPr>
              <a:t>Учим и </a:t>
            </a:r>
            <a:r>
              <a:rPr sz="3000" b="1">
                <a:solidFill>
                  <a:srgbClr val="C9A84C"/>
                </a:solidFill>
                <a:latin typeface="Playfair Display"/>
              </a:rPr>
              <a:t>консультируем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9A9890"/>
                </a:solidFill>
                <a:latin typeface="IBM Plex Sans"/>
              </a:rPr>
              <a:t>От ранних стадий поисков до добычи — полный цикл горно-геологических информационных систем.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47088"/>
            <a:ext cx="126187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400" b="1">
                <a:solidFill>
                  <a:srgbClr val="C9A84C"/>
                </a:solidFill>
                <a:latin typeface="IBM Plex Mono"/>
              </a:rPr>
              <a:t>DATAMINE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1847088"/>
            <a:ext cx="126187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400" b="0">
                <a:solidFill>
                  <a:srgbClr val="9A9890"/>
                </a:solidFill>
                <a:latin typeface="IBM Plex Mono"/>
              </a:rPr>
              <a:t>LEAPFROG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6744" y="1847088"/>
            <a:ext cx="96926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400" b="1">
                <a:solidFill>
                  <a:srgbClr val="C9A84C"/>
                </a:solidFill>
                <a:latin typeface="IBM Plex Mono"/>
              </a:rPr>
              <a:t>ARCGIS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847088"/>
            <a:ext cx="1408176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400" b="0">
                <a:solidFill>
                  <a:srgbClr val="9A9890"/>
                </a:solidFill>
                <a:latin typeface="IBM Plex Mono"/>
              </a:rPr>
              <a:t>MICROMINE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4264" y="1847088"/>
            <a:ext cx="155448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r>
              <a:rPr sz="1400" b="1">
                <a:solidFill>
                  <a:srgbClr val="C9A84C"/>
                </a:solidFill>
                <a:latin typeface="IBM Plex Mono"/>
              </a:rPr>
              <a:t>STATISTICA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31720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331720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Анализ данных поисков и разведки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6882" y="2331720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4898" y="2331720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Прогнозирование месторождений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0844" y="2331720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8860" y="2331720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Оптимизация разведочных работ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999232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999232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Моделирование и оценка месторождений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6882" y="2999232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4898" y="2999232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Проектирование и планирование горных работ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0844" y="2999232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8860" y="2999232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Оценка геологических рисков для добычи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666744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3666744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Mining Reconciliation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6882" y="3666744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4898" y="3666744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Оптимальные экономические решения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844" y="3666744"/>
            <a:ext cx="3557930" cy="5486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8860" y="3666744"/>
            <a:ext cx="3301898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E8E6DE"/>
                </a:solidFill>
                <a:latin typeface="IBM Plex Sans"/>
              </a:rPr>
              <a:t>◆  Автоматизация моделирования, проектирования, отчётности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892040"/>
            <a:ext cx="11185855" cy="148132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2_Рисунок31.pn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4942840"/>
            <a:ext cx="11084255" cy="13797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03 / 15 — УЧИМ И КОНСУЛЬТИРУЕМ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УЧЕБНЫЙ ПЛАН — ПО ДАННЫМ ПАРТНЁРА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E8E6DE"/>
                </a:solidFill>
                <a:latin typeface="Playfair Display"/>
              </a:rPr>
              <a:t>Карта курсов: </a:t>
            </a:r>
            <a:r>
              <a:rPr sz="2200" b="1">
                <a:solidFill>
                  <a:srgbClr val="C9A84C"/>
                </a:solidFill>
                <a:latin typeface="Playfair Display"/>
              </a:rPr>
              <a:t>системы для геологии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50" b="0">
                <a:solidFill>
                  <a:srgbClr val="9A9890"/>
                </a:solidFill>
                <a:latin typeface="IBM Plex Mono"/>
              </a:rPr>
              <a:t>Используемое ПО: ARC — ArcGIS, DM — Datamine, LF — Leapfrog, ST — Statistica, MC — Micromine, SM — Симулятор ГРР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1185855" cy="237744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81328"/>
            <a:ext cx="1096639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00" b="0">
                <a:solidFill>
                  <a:srgbClr val="E8C97A"/>
                </a:solidFill>
                <a:latin typeface="IBM Plex Mono"/>
              </a:rPr>
              <a:t>Обзорный курс по информационным системам для геологических задач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11185855" cy="237744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55648"/>
            <a:ext cx="10966399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800" b="0">
                <a:solidFill>
                  <a:srgbClr val="E8C97A"/>
                </a:solidFill>
                <a:latin typeface="IBM Plex Mono"/>
              </a:rPr>
              <a:t>Обзорный курс по геологии и геолого-разведочным работам для финансово-экономического блока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ПОИСКИ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23744"/>
            <a:ext cx="27940" cy="439724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23744"/>
            <a:ext cx="1772869" cy="43972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615184"/>
            <a:ext cx="1589989" cy="1196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ArcGIS для геологов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749" y="2789732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ARC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09188"/>
            <a:ext cx="27940" cy="439724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009188"/>
            <a:ext cx="1772869" cy="43972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100628"/>
            <a:ext cx="1589989" cy="1196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Дешифрирование космоснимков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749" y="3275176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ARC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94632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494632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586072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Мат. методы анализа геохимических систем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749" y="3880305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ST,DM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099761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99761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4191201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Прогнозирование месторождений по машинному обучению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749" y="4485434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ST,DM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04890"/>
            <a:ext cx="27940" cy="43972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704890"/>
            <a:ext cx="1772869" cy="43972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796330"/>
            <a:ext cx="1589989" cy="1196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Симулятор поисков и разведки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2749" y="4970878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190334"/>
            <a:ext cx="27940" cy="67909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5190334"/>
            <a:ext cx="1772869" cy="67909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" y="5281774"/>
            <a:ext cx="1589989" cy="3590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Комплексный анализ геол., геофиз. и геохим. данных в ArcGIS и методами машинного обучения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749" y="5695692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SM,ST,DM,ARC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85517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РАЗВЕДКА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85517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385517" y="2523744"/>
            <a:ext cx="27940" cy="439724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85517" y="2523744"/>
            <a:ext cx="1772869" cy="43972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86101" y="2615184"/>
            <a:ext cx="1589989" cy="1196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Курсы по Micromine Geobank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5346" y="2789732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MC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85517" y="3009188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385517" y="3009188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6101" y="3100628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Имплицитное моделирование для управления разведкой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5346" y="3394861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SM,LF,DM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85517" y="3614317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85517" y="3614317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86101" y="3705757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Оптимизация направлений и сетей разведки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5346" y="3999990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68114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ГЕОЛОГИЧЕСКОЕ МОДЕЛИРОВАНИЕ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68114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68114" y="2523744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68114" y="2523744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68698" y="2615184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Геологическое моделирование в Datamine Studio 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7943" y="2909417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68114" y="3128873"/>
            <a:ext cx="27940" cy="559409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68114" y="3128873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68698" y="3220313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Имплицитное моделирование месторождений в Leapfrog Geo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7943" y="3514546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LF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68114" y="3734002"/>
            <a:ext cx="27940" cy="559409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68114" y="3734002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68698" y="3825442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3D геолого-структурное моделирование в Leapfrog Geo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7943" y="4119675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LF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68114" y="4339131"/>
            <a:ext cx="27940" cy="559409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68114" y="4339131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68698" y="4430571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Leapfrog Viewer для руководителей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7943" y="4724804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LF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50711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ГЕОСТАТИСТИКА И ОЦЕНКА РЕСУРСОВ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50711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50711" y="2523744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50711" y="2523744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51295" y="2615184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Основы геостатистики и оценки ресурсов в Datamine Studio 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60540" y="2909417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150711" y="3128873"/>
            <a:ext cx="27940" cy="67909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50711" y="3128873"/>
            <a:ext cx="1772869" cy="67909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1295" y="3220313"/>
            <a:ext cx="1589989" cy="3590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Продвинутая геостатистика и оптимизация оценки ресурсов в Datamine Studio 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60540" y="3634231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50711" y="3853687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150711" y="3853687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51295" y="3945127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Модуль Datamine Studio RM — Uniform Conditioning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60540" y="4239360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50711" y="4458816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50711" y="4458816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51295" y="4550256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Модуль Datamine Studio RM — Advanced Estimate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60540" y="4844489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33308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КЛАССИФИКАЦИЯ JORC И ОПТИМИЗАЦИЯ ЗАПАСОВ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33308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33308" y="2523744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33308" y="2523744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133892" y="2615184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Классификация и оценка мин. ресурсов и запасов по JORC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43137" y="2909417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33308" y="3128873"/>
            <a:ext cx="27940" cy="67909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3308" y="3128873"/>
            <a:ext cx="1772869" cy="67909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33892" y="3220313"/>
            <a:ext cx="1589989" cy="3590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Оптимизация выемочных единиц и извлекаемых рудных запасов в Datamine MSO и MRO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43137" y="3634231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3308" y="3853687"/>
            <a:ext cx="27940" cy="43972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033308" y="3853687"/>
            <a:ext cx="1772869" cy="43972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33892" y="3945127"/>
            <a:ext cx="1589989" cy="1196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Оптимизация карьера в NPVS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43137" y="4119675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915905" y="2084832"/>
            <a:ext cx="1772869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ЭКОНОМИКА И АНАЛИЗ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915905" y="2450592"/>
            <a:ext cx="1772869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15905" y="2523744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915905" y="2523744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16489" y="2615184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Геолого-экономическая оценка и экономика ГОК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25735" y="2909417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15905" y="3128873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915905" y="3128873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016489" y="3220313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Оценка геологических рисков для горного производства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25735" y="3514546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915905" y="3734002"/>
            <a:ext cx="27940" cy="55940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15905" y="3734002"/>
            <a:ext cx="1772869" cy="559409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016489" y="3825442"/>
            <a:ext cx="1589989" cy="23936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Горное согласование (Mining Reconciliation)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225735" y="4119675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915905" y="4339131"/>
            <a:ext cx="27940" cy="679094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915905" y="4339131"/>
            <a:ext cx="1772869" cy="679094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016489" y="4430571"/>
            <a:ext cx="1589989" cy="35905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760" b="0">
                <a:solidFill>
                  <a:srgbClr val="E8E6DE"/>
                </a:solidFill>
                <a:latin typeface="IBM Plex Sans"/>
              </a:rPr>
              <a:t>Автоматизация отчётности и моделирования — скрипты и макросы Datamine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25735" y="4844489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04 / 15 — КАРТА КУРСОВ: ГЕОЛОГИЯ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УЧЕБНЫЙ ПЛАН — ПО ДАННЫМ ПАРТНЁРА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E8E6DE"/>
                </a:solidFill>
                <a:latin typeface="Playfair Display"/>
              </a:rPr>
              <a:t>Карта курсов: </a:t>
            </a:r>
            <a:r>
              <a:rPr sz="2200" b="1">
                <a:solidFill>
                  <a:srgbClr val="C9A84C"/>
                </a:solidFill>
                <a:latin typeface="Playfair Display"/>
              </a:rPr>
              <a:t>горное планирование и проектирование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85855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50" b="0">
                <a:solidFill>
                  <a:srgbClr val="9A9890"/>
                </a:solidFill>
                <a:latin typeface="IBM Plex Mono"/>
              </a:rPr>
              <a:t>Используемое ПО: DM — Datamine, SM — Симулятор ГРР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ИНЖЕНЕРНОЕ ОБЕСПЕЧЕНИЕ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2127443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3055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13055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222199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Вводный курс в Datamine на базе Studio OP и Studio 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7323" y="253512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72867"/>
            <a:ext cx="27940" cy="449173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772867"/>
            <a:ext cx="2127443" cy="449173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2864307"/>
            <a:ext cx="1944563" cy="1291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Studio RM для маркшейдеров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7323" y="3048304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86048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286048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3377488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Построение 3D геомеханических моделей в Studio 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7323" y="3690619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28363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928363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4019803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Построение 3D геолого-технологических моделей в Studio 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7323" y="4332934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67523" y="169164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ОПТИМИЗАЦИЯ ИЗВЛЕКАЕМЫХ ЗАПАСОВ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7523" y="2057400"/>
            <a:ext cx="2127443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67523" y="213055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67523" y="213055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68107" y="222199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Оптимизация выемочных единиц — Datamine MSO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1926" y="253512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67523" y="2772867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67523" y="2772867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68107" y="2864307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Оптимизация извлекаемых запасов — Datamine MRO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1926" y="3177438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32126" y="169164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ПЛАНИРОВАНИЕ ОТКРЫТЫХ ГОРНЫХ РАБОТ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32126" y="2057400"/>
            <a:ext cx="2127443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32126" y="213055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32126" y="213055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32710" y="222199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Долгосрочное планирование ОГР в Datamine NPV Scheduler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96529" y="253512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32126" y="2772867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32126" y="2772867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32710" y="2864307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Среднесрочное и краткосрочное планирование в Studio OP + 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6529" y="3177438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729" y="169164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ПЛАНИРОВАНИЕ ПОДЗЕМНЫХ ГОРНЫХ РАБОТ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96729" y="2057400"/>
            <a:ext cx="2127443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96729" y="213055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96729" y="213055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97313" y="222199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Планирование ПГР — Studio UG + Production Scheduler 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61132" y="253512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61332" y="1691640"/>
            <a:ext cx="212744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05000"/>
              </a:lnSpc>
            </a:pPr>
            <a:r>
              <a:rPr sz="850" b="1">
                <a:solidFill>
                  <a:srgbClr val="C9A84C"/>
                </a:solidFill>
                <a:latin typeface="IBM Plex Mono"/>
              </a:rPr>
              <a:t>ЭКОНОМИКА И АНАЛИЗ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61332" y="2057400"/>
            <a:ext cx="2127443" cy="9525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61332" y="213055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561332" y="213055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61916" y="222199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Экономика и принятие инженерных решений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25735" y="253512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61332" y="2772867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61332" y="2772867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61916" y="2864307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Горное согласование (Mining Reconciliation)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25735" y="3177438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61332" y="3415182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561332" y="3415182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61916" y="3506622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Геология и геологические риски для горняков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5735" y="3819753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SM,DM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61332" y="4057497"/>
            <a:ext cx="27940" cy="578307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61332" y="4057497"/>
            <a:ext cx="2127443" cy="578307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61916" y="4148937"/>
            <a:ext cx="1944563" cy="258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2000"/>
              </a:lnSpc>
            </a:pPr>
            <a:r>
              <a:rPr sz="819" b="0">
                <a:solidFill>
                  <a:srgbClr val="E8E6DE"/>
                </a:solidFill>
                <a:latin typeface="IBM Plex Sans"/>
              </a:rPr>
              <a:t>Автоматизация отчётности и проектирования — скрипты и макросы Datamine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5735" y="4462068"/>
            <a:ext cx="1371600" cy="137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600" b="1">
                <a:solidFill>
                  <a:srgbClr val="C9A84C"/>
                </a:solidFill>
                <a:latin typeface="IBM Plex Mono"/>
              </a:rPr>
              <a:t>DM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05 / 15 — КАРТА КУРСОВ: ГОРНОЕ ПЛАНИРОВАНИЕ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GEOCORE-ACADEMY ДЛЯ ВАС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>
                <a:solidFill>
                  <a:srgbClr val="E8E6DE"/>
                </a:solidFill>
                <a:latin typeface="Playfair Display"/>
              </a:rPr>
              <a:t>Текущий каталог: </a:t>
            </a:r>
            <a:r>
              <a:rPr sz="3000" b="1">
                <a:solidFill>
                  <a:srgbClr val="C9A84C"/>
                </a:solidFill>
                <a:latin typeface="Playfair Display"/>
              </a:rPr>
              <a:t>60 курсов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9A9890"/>
                </a:solidFill>
                <a:latin typeface="IBM Plex Sans"/>
              </a:rPr>
              <a:t>Полный список всех 60 курсов — в приложении в конце презентации; здесь — состав каталога по уровню сложности и используемому ПО.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2926080" cy="1463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9000" b="1">
                <a:solidFill>
                  <a:srgbClr val="C9A84C"/>
                </a:solidFill>
                <a:latin typeface="Playfair Display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9A9890"/>
                </a:solidFill>
                <a:latin typeface="IBM Plex Mono"/>
              </a:rPr>
              <a:t>КУРСОВ В КАТАЛОГЕ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4884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По уровню сложности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146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E8E6DE"/>
                </a:solidFill>
                <a:latin typeface="IBM Plex Sans"/>
              </a:rPr>
              <a:t>Ознакомительный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542032"/>
            <a:ext cx="583553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7193" y="25146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>
                <a:solidFill>
                  <a:srgbClr val="E8C97A"/>
                </a:solidFill>
                <a:latin typeface="Playfair Display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98648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E8E6DE"/>
                </a:solidFill>
                <a:latin typeface="IBM Plex Sans"/>
              </a:rPr>
              <a:t>Базовый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926080"/>
            <a:ext cx="3127248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289864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>
                <a:solidFill>
                  <a:srgbClr val="E8C97A"/>
                </a:solidFill>
                <a:latin typeface="Playfair Display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2826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E8E6DE"/>
                </a:solidFill>
                <a:latin typeface="IBM Plex Sans"/>
              </a:rPr>
              <a:t>Средний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310128"/>
            <a:ext cx="2844615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08255" y="328269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>
                <a:solidFill>
                  <a:srgbClr val="E8C97A"/>
                </a:solidFill>
                <a:latin typeface="Playfair Display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66674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50" b="0">
                <a:solidFill>
                  <a:srgbClr val="E8E6DE"/>
                </a:solidFill>
                <a:latin typeface="IBM Plex Sans"/>
              </a:rPr>
              <a:t>Продвинутый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694176"/>
            <a:ext cx="199671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0357" y="366674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1">
                <a:solidFill>
                  <a:srgbClr val="E8C97A"/>
                </a:solidFill>
                <a:latin typeface="Playfair Display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Курсов с этим ПО (с учётом комбинаций)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54880"/>
            <a:ext cx="2090867" cy="868680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209086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>
                <a:solidFill>
                  <a:srgbClr val="C9A84C"/>
                </a:solidFill>
                <a:latin typeface="Playfair Display"/>
              </a:rPr>
              <a:t>44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20908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9A9890"/>
                </a:solidFill>
                <a:latin typeface="IBM Plex Mono"/>
              </a:rPr>
              <a:t>DATAMINE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6667" y="4754880"/>
            <a:ext cx="2090867" cy="868680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6667" y="4846320"/>
            <a:ext cx="209086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>
                <a:solidFill>
                  <a:srgbClr val="C9A84C"/>
                </a:solidFill>
                <a:latin typeface="Playfair Display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6667" y="5349240"/>
            <a:ext cx="20908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9A9890"/>
                </a:solidFill>
                <a:latin typeface="IBM Plex Mono"/>
              </a:rPr>
              <a:t>MICROMINE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50414" y="4754880"/>
            <a:ext cx="2090867" cy="868680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50414" y="4846320"/>
            <a:ext cx="209086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>
                <a:solidFill>
                  <a:srgbClr val="C9A84C"/>
                </a:solidFill>
                <a:latin typeface="Playfair Display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0414" y="5349240"/>
            <a:ext cx="20908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9A9890"/>
                </a:solidFill>
                <a:latin typeface="IBM Plex Mono"/>
              </a:rPr>
              <a:t>ARCGIS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24161" y="4754880"/>
            <a:ext cx="2090867" cy="868680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24161" y="4846320"/>
            <a:ext cx="209086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>
                <a:solidFill>
                  <a:srgbClr val="C9A84C"/>
                </a:solidFill>
                <a:latin typeface="Playfair Display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24161" y="5349240"/>
            <a:ext cx="20908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9A9890"/>
                </a:solidFill>
                <a:latin typeface="IBM Plex Mono"/>
              </a:rPr>
              <a:t>LEAPFROG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97908" y="4754880"/>
            <a:ext cx="2090867" cy="868680"/>
          </a:xfrm>
          <a:prstGeom prst="rect">
            <a:avLst/>
          </a:prstGeom>
          <a:solidFill>
            <a:srgbClr val="1F1F26"/>
          </a:solidFill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97908" y="4846320"/>
            <a:ext cx="2090867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1">
                <a:solidFill>
                  <a:srgbClr val="C9A84C"/>
                </a:solidFill>
                <a:latin typeface="Playfair Display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7908" y="5349240"/>
            <a:ext cx="2090867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0">
                <a:solidFill>
                  <a:srgbClr val="9A9890"/>
                </a:solidFill>
                <a:latin typeface="IBM Plex Mono"/>
              </a:rPr>
              <a:t>STATISTICA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06 / 15 — КАТАЛОГ: 60 КУРСОВ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О НАС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E8E6DE"/>
                </a:solidFill>
                <a:latin typeface="Playfair Display"/>
              </a:rPr>
              <a:t>Совокупный опыт и </a:t>
            </a:r>
            <a:r>
              <a:rPr sz="2800" b="1">
                <a:solidFill>
                  <a:srgbClr val="C9A84C"/>
                </a:solidFill>
                <a:latin typeface="Playfair Display"/>
              </a:rPr>
              <a:t>компетенции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1185855" cy="12700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057400"/>
            <a:ext cx="11185855" cy="12700"/>
          </a:xfrm>
          <a:prstGeom prst="rect">
            <a:avLst/>
          </a:prstGeom>
          <a:solidFill>
            <a:srgbClr val="7A6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279646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Playfair Display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261358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9A9890"/>
                </a:solidFill>
                <a:latin typeface="IBM Plex Mono"/>
              </a:rPr>
              <a:t>лет в Полиметалл, консалтинг по ГГИС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9383" y="1536192"/>
            <a:ext cx="279646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Playfair Display"/>
              </a:rPr>
              <a:t>800+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0823" y="1828800"/>
            <a:ext cx="261358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9A9890"/>
                </a:solidFill>
                <a:latin typeface="IBM Plex Mono"/>
              </a:rPr>
              <a:t>геологов и горняков обучено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1536192"/>
            <a:ext cx="279646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Playfair Display"/>
              </a:rP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1828800"/>
            <a:ext cx="261358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9A9890"/>
                </a:solidFill>
                <a:latin typeface="IBM Plex Mono"/>
              </a:rPr>
              <a:t>вузов-партнёров (СПГУ, МГРИ, УГГУ…)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2311" y="1536192"/>
            <a:ext cx="2796463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200" b="1">
                <a:solidFill>
                  <a:srgbClr val="C9A84C"/>
                </a:solidFill>
                <a:latin typeface="Playfair Display"/>
              </a:rPr>
              <a:t>200+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3751" y="1828800"/>
            <a:ext cx="261358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750" b="0">
                <a:solidFill>
                  <a:srgbClr val="9A9890"/>
                </a:solidFill>
                <a:latin typeface="IBM Plex Mono"/>
              </a:rPr>
              <a:t>студентов и преподавателей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Горнодобывающие компании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24328"/>
            <a:ext cx="3545738" cy="3200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Полиметалл — 15 лет работы во внутреннем консалтинге по горно-геологическим системам, обучено &gt;800 геологов, горняков и маркшейдеров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Казцинк — 12 лет работы в ИТ и аналитике, в т.ч. проекте «Казцинк-ГЕО»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ВНИИцветмет — 10 лет работы в рудничной геофизике и геологии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800" b="0">
                <a:solidFill>
                  <a:srgbClr val="9A9890"/>
                </a:solidFill>
                <a:latin typeface="IBM Plex Sans"/>
              </a:rPr>
              <a:t>Обмен опытом: Гипроникель, Уральская ГМК, АЛРОСА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2978" y="233172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Работа с университетами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2978" y="2624328"/>
            <a:ext cx="3545738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800" b="0">
                <a:solidFill>
                  <a:srgbClr val="9A9890"/>
                </a:solidFill>
                <a:latin typeface="IBM Plex Sans"/>
              </a:rPr>
              <a:t>Проект по ГГИС — обучено &gt;200 студентов и преподавателей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Санкт-Петербургский Горный (СПГУ)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Российский геологоразведочный (РГГРУ / МГРИ)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Уральский Горный (УГГУ)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Южно-Российский политех (ЮРГПУ)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Иркутский научно-исследовательский (ИРНИТУ)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Дальневосточный федеральный (ДВФУ)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Северо-Восточный федеральный (СВФУ), Северо-Восточный государственный (СВГУ)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МГУ — мастер-класс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800" b="0">
                <a:solidFill>
                  <a:srgbClr val="9A9890"/>
                </a:solidFill>
                <a:latin typeface="IBM Plex Sans"/>
              </a:rPr>
              <a:t>Прочий опыт: ВКГУ (прикладные математики), ВКТУ (геологи)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3036" y="2331720"/>
            <a:ext cx="354573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050" b="0">
                <a:solidFill>
                  <a:srgbClr val="9A9890"/>
                </a:solidFill>
                <a:latin typeface="IBM Plex Sans"/>
              </a:rPr>
              <a:t>Образование и сертификаты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3036" y="2624328"/>
            <a:ext cx="3545738" cy="3566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Ленинградский горный институт — геологическое образование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Санкт-Петербургский гос. университет — математическое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Алматинский институт экономики и статистики — экономическое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ВИРГ-Рудгеофизика — кандидат технических наук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C9A84C"/>
                </a:solidFill>
                <a:latin typeface="IBM Plex Sans"/>
              </a:rPr>
              <a:t>◆ </a:t>
            </a:r>
            <a:r>
              <a:rPr sz="900" b="0">
                <a:solidFill>
                  <a:srgbClr val="E8E6DE"/>
                </a:solidFill>
                <a:latin typeface="IBM Plex Sans"/>
              </a:rPr>
              <a:t>IOM3, MIMMM — компетентная персона по отчётности по мин. ресурсам и запасам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800" b="0">
                <a:solidFill>
                  <a:srgbClr val="9A9890"/>
                </a:solidFill>
                <a:latin typeface="IBM Plex Sans"/>
              </a:rPr>
              <a:t>Более 20 курсов: GIS, геологическое моделирование, геостатистика, оценка ресурсов, оптимизация запасов, машинное обучение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43036" y="6080760"/>
            <a:ext cx="634592" cy="219456"/>
          </a:xfrm>
          <a:prstGeom prst="rect">
            <a:avLst/>
          </a:prstGeom>
          <a:noFill/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3036" y="6080760"/>
            <a:ext cx="63459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9A84C"/>
                </a:solidFill>
                <a:latin typeface="IBM Plex Mono"/>
              </a:rPr>
              <a:t>DATAMINE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41636" y="6080760"/>
            <a:ext cx="634592" cy="219456"/>
          </a:xfrm>
          <a:prstGeom prst="rect">
            <a:avLst/>
          </a:prstGeom>
          <a:noFill/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1636" y="6080760"/>
            <a:ext cx="63459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9A84C"/>
                </a:solidFill>
                <a:latin typeface="IBM Plex Mono"/>
              </a:rPr>
              <a:t>LEAPFROG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40236" y="6080760"/>
            <a:ext cx="510234" cy="219456"/>
          </a:xfrm>
          <a:prstGeom prst="rect">
            <a:avLst/>
          </a:prstGeom>
          <a:noFill/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0236" y="6080760"/>
            <a:ext cx="510234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9A84C"/>
                </a:solidFill>
                <a:latin typeface="IBM Plex Mono"/>
              </a:rPr>
              <a:t>ARCGIS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14478" y="6080760"/>
            <a:ext cx="696771" cy="219456"/>
          </a:xfrm>
          <a:prstGeom prst="rect">
            <a:avLst/>
          </a:prstGeom>
          <a:noFill/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14478" y="6080760"/>
            <a:ext cx="696771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9A84C"/>
                </a:solidFill>
                <a:latin typeface="IBM Plex Mono"/>
              </a:rPr>
              <a:t>MICROMINE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75257" y="6080760"/>
            <a:ext cx="758950" cy="219456"/>
          </a:xfrm>
          <a:prstGeom prst="rect">
            <a:avLst/>
          </a:prstGeom>
          <a:noFill/>
          <a:ln w="9525">
            <a:solidFill>
              <a:srgbClr val="7A6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75257" y="6080760"/>
            <a:ext cx="75895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0">
                <a:solidFill>
                  <a:srgbClr val="C9A84C"/>
                </a:solidFill>
                <a:latin typeface="IBM Plex Mono"/>
              </a:rPr>
              <a:t>STATISTICA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07 / 15 — ОПЫТ И КОМПЕТЕНЦИИ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КАК РАБОТАЕМ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800" b="1">
                <a:solidFill>
                  <a:srgbClr val="E8E6DE"/>
                </a:solidFill>
                <a:latin typeface="Playfair Display"/>
              </a:rPr>
              <a:t>Форматы </a:t>
            </a:r>
            <a:r>
              <a:rPr sz="2800" b="1">
                <a:solidFill>
                  <a:srgbClr val="C9A84C"/>
                </a:solidFill>
                <a:latin typeface="Playfair Display"/>
              </a:rPr>
              <a:t>работы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200" b="0">
                <a:solidFill>
                  <a:srgbClr val="9A9890"/>
                </a:solidFill>
                <a:latin typeface="IBM Plex Sans"/>
              </a:rPr>
              <a:t>От дистанционного курса до прямого участия в проекте моделирования и оценки месторождения.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557930" cy="56692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1874519"/>
            <a:ext cx="330189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Очное обучение в классе + поддержка e-learning курсами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6882" y="1874519"/>
            <a:ext cx="3557930" cy="56692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4898" y="1874519"/>
            <a:ext cx="330189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Дистанционное комби-обучение (вебинары + самостоятельно по e-learning)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0844" y="1874519"/>
            <a:ext cx="3557930" cy="56692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8860" y="1874519"/>
            <a:ext cx="330189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Обучение по e-learning курсам и играм + консультации преподавателя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06040"/>
            <a:ext cx="3557930" cy="141732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8_Рисунок31.png.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" y="2656840"/>
            <a:ext cx="3456330" cy="1315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4069080"/>
            <a:ext cx="35579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ОЧНОЕ ОБУЧЕНИЕ В КЛАССЕ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6882" y="2606040"/>
            <a:ext cx="3557930" cy="141732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8_Рисунок33.png.c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682" y="2656840"/>
            <a:ext cx="3456330" cy="1315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316882" y="4069080"/>
            <a:ext cx="35579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ДИСТАНЦИОННЫЙ ВЕБИНАР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0844" y="2606040"/>
            <a:ext cx="3557930" cy="141732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8_Рисунок34.png.cr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644" y="2656840"/>
            <a:ext cx="3456330" cy="1315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30844" y="4069080"/>
            <a:ext cx="355793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СТРУКТУРА КУРСА — КЕЙСЫ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34840"/>
            <a:ext cx="11185855" cy="292608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10911535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000" b="0">
                <a:solidFill>
                  <a:srgbClr val="9A9890"/>
                </a:solidFill>
                <a:latin typeface="IBM Plex Sans"/>
              </a:rPr>
              <a:t>◆ Контроль знаний: электронные тесты, контрольные кейсы, комплексные аттестации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92040"/>
            <a:ext cx="3557930" cy="7772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" y="4892040"/>
            <a:ext cx="330189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Участие в проектах внедрения систем для геологии, горного проектирования, планирования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6882" y="4892040"/>
            <a:ext cx="3557930" cy="7772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44898" y="4892040"/>
            <a:ext cx="330189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Участие в проектах прогнозирования, моделирования, оценки месторождений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0844" y="4892040"/>
            <a:ext cx="3557930" cy="77724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8860" y="4892040"/>
            <a:ext cx="3301898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>
              <a:lnSpc>
                <a:spcPct val="120000"/>
              </a:lnSpc>
            </a:pPr>
            <a:r>
              <a:rPr sz="1000" b="0">
                <a:solidFill>
                  <a:srgbClr val="E8E6DE"/>
                </a:solidFill>
                <a:latin typeface="IBM Plex Sans"/>
              </a:rPr>
              <a:t>◆  Автоматизация моделирования, проектирования, отчётности в ГГИС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08 / 15 — ФОРМАТЫ РАБОТЫ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ПРОДУКТ — ЖИВОЙ СКРИНШОТ GEOCORE-ACADEMY.KZ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>
                <a:solidFill>
                  <a:srgbClr val="E8E6DE"/>
                </a:solidFill>
                <a:latin typeface="Playfair Display"/>
              </a:rPr>
              <a:t>Портал </a:t>
            </a:r>
            <a:r>
              <a:rPr sz="3000" b="1">
                <a:solidFill>
                  <a:srgbClr val="C9A84C"/>
                </a:solidFill>
                <a:latin typeface="Playfair Display"/>
              </a:rPr>
              <a:t>Geocore-Academy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250" b="0">
                <a:solidFill>
                  <a:srgbClr val="9A9890"/>
                </a:solidFill>
                <a:latin typeface="IBM Plex Sans"/>
              </a:rPr>
              <a:t>Каталог курсов на сайте живёт синхронно с Moodle: открытые SCORM-курсы, курсы «в разработке» и записи в один клик — без макетов, это то, что видит пользователь сегодня.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4206240" cy="416052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78" y="2291080"/>
            <a:ext cx="2869523" cy="4058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44652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ГЛАВНАЯ — GEOCORE-ACADEMY.KZ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240280"/>
            <a:ext cx="6309360" cy="416052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280" y="2721695"/>
            <a:ext cx="6207760" cy="31976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83480" y="6446520"/>
            <a:ext cx="6309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9A9890"/>
                </a:solidFill>
                <a:latin typeface="IBM Plex Mono"/>
              </a:rPr>
              <a:t>КАТАЛОГ: ОТКРЫТ / В РАЗРАБОТКЕ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09 / 15 — ПОРТАЛ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НАЧАЛО РАБОТЫ — РЕАЛЬНАЯ ВОРОНКА САЙТА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000" b="1">
                <a:solidFill>
                  <a:srgbClr val="E8E6DE"/>
                </a:solidFill>
                <a:latin typeface="Playfair Display"/>
              </a:rPr>
              <a:t>Как записаться </a:t>
            </a:r>
            <a:r>
              <a:rPr sz="3000" b="1">
                <a:solidFill>
                  <a:srgbClr val="C9A84C"/>
                </a:solidFill>
                <a:latin typeface="Playfair Display"/>
              </a:rPr>
              <a:t>на сервисы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92808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7A6230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9280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E8E6DE"/>
                </a:solidFill>
                <a:latin typeface="IBM Plex Sans"/>
              </a:rPr>
              <a:t>Выбрать курс в каталоге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9A9890"/>
                </a:solidFill>
                <a:latin typeface="IBM Plex Sans"/>
              </a:rPr>
              <a:t>Карточка на geocore-academy.kz — статус «Открыт» кликабелен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44368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7A6230"/>
                </a:solidFill>
                <a:latin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4436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E8E6DE"/>
                </a:solidFill>
                <a:latin typeface="IBM Plex Sans"/>
              </a:rPr>
              <a:t>«Записаться на курс →»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9A9890"/>
                </a:solidFill>
                <a:latin typeface="IBM Plex Sans"/>
              </a:rPr>
              <a:t>В модалке курса — программа, аудитория, формат, кнопка записи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86200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995928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7A6230"/>
                </a:solidFill>
                <a:latin typeface="Playfair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9592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E8E6DE"/>
                </a:solidFill>
                <a:latin typeface="IBM Plex Sans"/>
              </a:rPr>
              <a:t>Заявка на корпоративное обучение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9A9890"/>
                </a:solidFill>
                <a:latin typeface="IBM Plex Sans"/>
              </a:rPr>
              <a:t>Компания, ИНН, email для договора, ФИО и email сотрудника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937760"/>
            <a:ext cx="5303520" cy="9525"/>
          </a:xfrm>
          <a:prstGeom prst="rect">
            <a:avLst/>
          </a:prstGeom>
          <a:solidFill>
            <a:srgbClr val="2A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64008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1">
                <a:solidFill>
                  <a:srgbClr val="7A6230"/>
                </a:solidFill>
                <a:latin typeface="Playfair Displa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047488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E8E6DE"/>
                </a:solidFill>
                <a:latin typeface="IBM Plex Sans"/>
              </a:rPr>
              <a:t>«Заявка принята!»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050" b="0">
                <a:solidFill>
                  <a:srgbClr val="9A9890"/>
                </a:solidFill>
                <a:latin typeface="IBM Plex Sans"/>
              </a:rPr>
              <a:t>Запрос уходит на info@geocore-academy.kz — менеджер связывается с заявителем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2514600" cy="246888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g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2058254"/>
            <a:ext cx="2413000" cy="19185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2976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E8C97A"/>
                </a:solidFill>
                <a:latin typeface="IBM Plex Mono"/>
              </a:rPr>
              <a:t>ШАГ 02 — МОДАЛКА КУРСА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783080"/>
            <a:ext cx="2514600" cy="2468880"/>
          </a:xfrm>
          <a:prstGeom prst="rect">
            <a:avLst/>
          </a:prstGeom>
          <a:solidFill>
            <a:srgbClr val="1F1F26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g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838" y="1833880"/>
            <a:ext cx="1708924" cy="2367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0" y="42976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 spc="50">
                <a:solidFill>
                  <a:srgbClr val="E8C97A"/>
                </a:solidFill>
                <a:latin typeface="IBM Plex Mono"/>
              </a:rPr>
              <a:t>ШАГ 03 — ЗАЯВКА НА КУРС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10 / 15 — КАК ЗАПИСАТЬСЯ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ПРИЛОЖЕНИЕ — ПОЛНЫЙ УЧЕБНЫЙ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E8E6DE"/>
                </a:solidFill>
                <a:latin typeface="Playfair Display"/>
              </a:rPr>
              <a:t>Каталог курсов </a:t>
            </a:r>
            <a:r>
              <a:rPr sz="2400" b="1">
                <a:solidFill>
                  <a:srgbClr val="C9A84C"/>
                </a:solidFill>
                <a:latin typeface="Playfair Display"/>
              </a:rPr>
              <a:t>(1 /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486400"/>
                <a:gridCol w="2240280"/>
                <a:gridCol w="960120"/>
                <a:gridCol w="2179015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№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КУРС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ПО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СЛОЖНОСТЬ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ФОРМАТ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Light курс по ArcGIS 10 для геологов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ArcGIS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 курс по ArcGIS Pro для геологов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ArcGIS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Дешифрирование космоснимков для геологических задач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ArcGIS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Построение 3D геомеханических моделей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Light курс по геологическому моделированию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6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Имплицитное моделирование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7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Оформление геологической графики/ чертежей для распечатки в Plot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8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Основы геостатистики, интерполяции и оценки минеральных ресурсов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9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Инструменты продвинутой геостатистики и оптимизации оценки ресурсов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Продвинутая оценка минеральных ресурсов в нововом модуле Datamine Advanced Estimation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11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Продвинутая оценка минеральных ресурсов в нововом модуле Datamine Uniform Conditioning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12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Построение моделей МР и КС месторождений с высокой изменчивостью элементов залегания(Unfolding, Dyn.Anisotropy)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13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Условное геостатистическое моделирование(Conditional Simulation) и оценка рисков в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14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Геостатистические методы анализа геологических рисков для горного производства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15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Классификация минеральных ресурсов по JORC в Datamine Studio RM (часть 1 по JORC)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11 / 15 — ПРИЛОЖЕНИЕ: КАТАЛОГ (1/4)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ПРИЛОЖЕНИЕ — ПОЛНЫЙ УЧЕБНЫЙ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E8E6DE"/>
                </a:solidFill>
                <a:latin typeface="Playfair Display"/>
              </a:rPr>
              <a:t>Каталог курсов </a:t>
            </a:r>
            <a:r>
              <a:rPr sz="2400" b="1">
                <a:solidFill>
                  <a:srgbClr val="C9A84C"/>
                </a:solidFill>
                <a:latin typeface="Playfair Display"/>
              </a:rPr>
              <a:t>(2 /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486400"/>
                <a:gridCol w="2240280"/>
                <a:gridCol w="960120"/>
                <a:gridCol w="2179015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№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КУРС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ПО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СЛОЖНОСТЬ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ФОРМАТ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16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Оценка минеральных ресурсов и рудных запасов по JORC в Datamine Studio RM (часть 2 по JORC)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17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Оптимизация выемочных единиц и извлекаемых рудных запасов в MSO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18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Оптимизация извлекаемых рудных запасов в MRO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19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Оптимальное проектирование карьера и долгосрочное горное проектирование в NPV Scheduler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NPV Scheduler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20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Основы разработки скриптов и макросов в Datamine для геологов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21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 курс по скриптам и макросам Datamine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22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Геолого-экономическая оценка, инженерные решения и экономика ГР с использованием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Excel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23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Excel для инженерно-экономических расчетов для горняков, маркшейдеров и геологов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Excel, 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24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Обзорный курс по геологии и геолого-разведочным работам для финансово-экономического блока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ознакомительный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25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Информационные системы в геологии для задач Полиметалла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ознакомительный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26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Основы геостатистики, интерполяции и оценки минеральных ресурсов в Leapfrog Edge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Leapfrog Edge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27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Система геологического моделирования Leapfrog Geo для ведущих геологов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Leapfrog Geo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28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Продвинутое 3Dгеолого-структурное моделирование в Leapfrog Geo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Leapfrog Geo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29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Leapfrog Viewer для руководителей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Leapfrog Geo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30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Основы математических методов для задач ГТК и управления качеством руд. Практикум в Datamine, Statistica и Excel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Statistica, Excel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12 / 15 — ПРИЛОЖЕНИЕ: КАТАЛОГ (2/4)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ПРИЛОЖЕНИЕ — ПОЛНЫЙ УЧЕБНЫЙ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E8E6DE"/>
                </a:solidFill>
                <a:latin typeface="Playfair Display"/>
              </a:rPr>
              <a:t>Каталог курсов </a:t>
            </a:r>
            <a:r>
              <a:rPr sz="2400" b="1">
                <a:solidFill>
                  <a:srgbClr val="C9A84C"/>
                </a:solidFill>
                <a:latin typeface="Playfair Display"/>
              </a:rPr>
              <a:t>(3 /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486400"/>
                <a:gridCol w="2240280"/>
                <a:gridCol w="960120"/>
                <a:gridCol w="2179015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№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КУРС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ПО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СЛОЖНОСТЬ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ФОРМАТ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31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Математические методы анализа геохимических систем для поисковых задач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Statistica,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32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Первичная обработка и анализ геохимических данных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ArcGIS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33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Математические методы прогнозирования новых месторождений. Применение Statistica Neural Network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Statistica, 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34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СОВРЕМЕННЫЕ МЕТОДИКИ ПРОГНОЗИРОВАНИЯ НОВЫХ МЕСТОРОЖДЕНИЙ: опыт реальных проектов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/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ознакомительный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35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Обзорный курс по 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ознакомительный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36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Курс администратора Micromine Geobank. Часть 1. Основы баз данных Geobank и языка SQL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Geobank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37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Курс администратора Micromine Geobank. Часть 2. Инструменты администратора Geobank, начало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38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Курс администратора Micromine Geobank. Часть 3. Настройка и импорт  документов АГР и лаборатории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Geobank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39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Курс администратора Micromine Geobank. Часть 4. Родные инструменты разработки 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40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 курс Microsoft Origin&amp;Beyond для геологов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Micromine Origin &amp; Beyond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41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Кейс к электронной интерактивной игре-симулятору по поискам и разведке малосульфидных золоторудных эпитермальных местрождений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42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Кейс к электронной интерактивной игре-симулятору по поискам и разведке сульфидных золоторудных эпитермальных местрождений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43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Комплексный горно-геологический кейс к электронной интерактивной игре-симулятору по поискам и разведке малосульфидных золоторудных эпитермальных местрождений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44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Контуры симулятора: Комплексный кейс анализа геологических, геофизических, геохимических данных в ArcGIS и машинного обучения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ArcGIS, Statistica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45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Оптимальное комплексирование геологических, геофизических и геохимических работ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ArcGIS, Statistica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13 / 15 — ПРИЛОЖЕНИЕ: КАТАЛОГ (3/4)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100" b="1" spc="150">
                <a:solidFill>
                  <a:srgbClr val="C9A84C"/>
                </a:solidFill>
                <a:latin typeface="IBM Plex Mono"/>
              </a:rPr>
              <a:t>— ПРИЛОЖЕНИЕ — ПОЛНЫЙ УЧЕБНЫЙ ПЛАН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E8E6DE"/>
                </a:solidFill>
                <a:latin typeface="Playfair Display"/>
              </a:rPr>
              <a:t>Каталог курсов </a:t>
            </a:r>
            <a:r>
              <a:rPr sz="2400" b="1">
                <a:solidFill>
                  <a:srgbClr val="C9A84C"/>
                </a:solidFill>
                <a:latin typeface="Playfair Display"/>
              </a:rPr>
              <a:t>(4 /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486400"/>
                <a:gridCol w="2240280"/>
                <a:gridCol w="960120"/>
                <a:gridCol w="2179015"/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№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КУРС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ПО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СЛОЖНОСТЬ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A0A0B"/>
                          </a:solidFill>
                          <a:latin typeface="IBM Plex Mono"/>
                        </a:rPr>
                        <a:t>ФОРМАТ</a:t>
                      </a:r>
                    </a:p>
                  </a:txBody>
                  <a:tcPr marL="50800" marR="50800" marT="12700" marB="12700" anchor="ctr">
                    <a:solidFill>
                      <a:srgbClr val="C9A84C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46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Кейс к электронной интерактивной игре-симулятору по поискам и разведке медно-колчеданных VMS месторождений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47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Кейс к электронной интерактивной игре-симулятору по экслуатационной разведке для зотоло-сульфидного месторождения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48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Контур симулятора: прогнозные модели Leapfrog Geo для разведочных задач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Leapfrog Geo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49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Контур Игры-симулятора: Оптимизация направлений разведки с использованием ГГИС.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Контур Игры-симулятора: Оптимизация разведочной сети с использованием ГГИС.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продвинутый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51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Кейс к электронной интерактивной игре-симулятору по поискам и разведке медно-порфировых местрождений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средний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52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Электронная инструкция к интерактивной игре-симулятору по поискам и разведке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53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Электронная инструкция к Интерактивной игре-симулятору по эксплуатационной разведке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54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Электронная инструкция к Интерактивной игре-симулятору по Geobank и QA/QC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RM, Micromine Geobank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55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Проектирование и планирование открытых горных работ в ПО Datamine Studio OP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OP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56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Проектирование и планирование подземных горных работ в ПО Datamine Studio UG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UG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57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 для маркшейдеров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58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Календарное планирование в ПО Datamine EPS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UG, OP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Дистанц.,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59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Спец. семинар "Ресурсный геолог"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Эл.</a:t>
                      </a:r>
                    </a:p>
                  </a:txBody>
                  <a:tcPr marL="50800" marR="50800" marT="12700" marB="12700" anchor="ctr">
                    <a:solidFill>
                      <a:srgbClr val="1F1F2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C97A"/>
                          </a:solidFill>
                          <a:latin typeface="IBM Plex Sans"/>
                        </a:rPr>
                        <a:t>60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Спец. семинар "Математические инструменты геостатистики"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Datamine Studio RM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базовый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0">
                          <a:solidFill>
                            <a:srgbClr val="E8E6DE"/>
                          </a:solidFill>
                          <a:latin typeface="IBM Plex Sans"/>
                        </a:rPr>
                        <a:t>Очно, Эл.</a:t>
                      </a:r>
                    </a:p>
                  </a:txBody>
                  <a:tcPr marL="50800" marR="50800" marT="12700" marB="12700" anchor="ctr">
                    <a:solidFill>
                      <a:srgbClr val="18181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14 / 15 — ПРИЛОЖЕНИЕ: КАТАЛОГ (4/4)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594360" y="640080"/>
            <a:ext cx="292608" cy="292608"/>
          </a:xfrm>
          <a:prstGeom prst="hexagon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658368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r>
              <a:rPr sz="1300" b="1" spc="100">
                <a:solidFill>
                  <a:srgbClr val="E8E6DE"/>
                </a:solidFill>
                <a:latin typeface="Playfair Display"/>
              </a:rPr>
              <a:t>GEOCORE </a:t>
            </a:r>
            <a:r>
              <a:rPr sz="1300" b="1" spc="100">
                <a:solidFill>
                  <a:srgbClr val="C9A84C"/>
                </a:solidFill>
                <a:latin typeface="Playfair Display"/>
              </a:rPr>
              <a:t>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 spc="120">
                <a:solidFill>
                  <a:srgbClr val="9A9890"/>
                </a:solidFill>
                <a:latin typeface="IBM Plex Mono"/>
              </a:rPr>
              <a:t>STARTUP · .KZ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3464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800" b="1">
                <a:solidFill>
                  <a:srgbClr val="E8E6DE"/>
                </a:solidFill>
                <a:latin typeface="Playfair Display"/>
              </a:rPr>
              <a:t>Благодарим за внимание!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35000"/>
              </a:lnSpc>
            </a:pPr>
            <a:r>
              <a:rPr sz="1300" b="0">
                <a:solidFill>
                  <a:srgbClr val="E8C97A"/>
                </a:solidFill>
                <a:latin typeface="IBM Plex Sans"/>
              </a:rPr>
              <a:t>geocore-academy.kz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1215" y="647395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 b="0" spc="50">
                <a:solidFill>
                  <a:srgbClr val="9A9890"/>
                </a:solidFill>
                <a:latin typeface="IBM Plex Mono"/>
              </a:rPr>
              <a:t>15 / 15 — БЛАГОДАРИМ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coreAcademy">
      <a:dk1>
        <a:srgbClr val="E8E6DE"/>
      </a:dk1>
      <a:lt1>
        <a:srgbClr val="0A0A0B"/>
      </a:lt1>
      <a:dk2>
        <a:srgbClr val="18181D"/>
      </a:dk2>
      <a:lt2>
        <a:srgbClr val="1F1F26"/>
      </a:lt2>
      <a:accent1>
        <a:srgbClr val="C9A84C"/>
      </a:accent1>
      <a:accent2>
        <a:srgbClr val="E8C97A"/>
      </a:accent2>
      <a:accent3>
        <a:srgbClr val="7A6230"/>
      </a:accent3>
      <a:accent4>
        <a:srgbClr val="9A9890"/>
      </a:accent4>
      <a:accent5>
        <a:srgbClr val="1F1F26"/>
      </a:accent5>
      <a:accent6>
        <a:srgbClr val="18181D"/>
      </a:accent6>
      <a:hlink>
        <a:srgbClr val="E8C97A"/>
      </a:hlink>
      <a:folHlink>
        <a:srgbClr val="C9A84C"/>
      </a:folHlink>
    </a:clrScheme>
    <a:fontScheme name="Office">
      <a:majorFont>
        <a:latin typeface="Playfair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